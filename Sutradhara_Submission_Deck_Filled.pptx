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itle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60320"/>
            <a:ext cx="4754880" cy="25831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Details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65760" y="3090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Mothiki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3383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Robotics Engineer — AI &amp; Embedded Systems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3657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</a:t>
            </a:r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Sūtradhāra — AI Productivity 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931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</a:t>
            </a:r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Academy APAC Challenge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2606040"/>
            <a:ext cx="4023360" cy="21945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8348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3044952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switch tools 300+ times per day — toggling between Calendar, Notion, email, and chat while coordination cost compounds silently. Most AI tools only watch one app at a time, solving a slice while the rest of the workday fractures. Sūtradhāra reclaims the whole day.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· Reversible ·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Sūtradhāra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Cross-Tool, Reversible AI Productivity Orchestrator — 7 Specialist Agent Roles, One Workday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74904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" y="1490472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calendar said one thing. My tasks said another. My Sequoia call started in five minutes and no single tool could see both."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8912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0" y="171907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sequential-crew pattern: root Manager orchestrates 6 specialist sub-agents — Calendar, Notion, Planner, Focus, Anticipator, Research. 15 registered tools span Calendar (5), Notion (5), research (2), rollback (3). Every write is staged as a PendingAction — 0 silent writes.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606040"/>
            <a:ext cx="2697480" cy="25603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6243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8986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of Staff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3127248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High-agency, proactive AI executive assistant. Orchestrates the user's workflow with foresight — routes intent to the right specialist instantly.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37560" y="26060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37560" y="2606040"/>
            <a:ext cx="269748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26243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Anticipator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29000" y="28986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Auditor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429000" y="3127248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upcoming 24–48 hours. Identifies meeting conflicts, missing context, productivity risks — without being asked.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17920" y="26060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606040"/>
            <a:ext cx="2697480" cy="2560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26243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Specialist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09360" y="28986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09360" y="3127248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real-time info via Google Search + web scraping. Synthesises into executive reports with citations, surfaced through Manager.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intelligence · Reversible by design · Every action staged — so nothing surprises you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approached the problem — ADK + MCP architecture, real-world impact, and workflow mechanics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463040"/>
            <a:ext cx="2651760" cy="2926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81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Approach &amp; Tech Stack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6928" y="1828800"/>
            <a:ext cx="243230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sequential-crew pattern with 7 agent roles. 15 registered tools: Calendar (5), Notion (5), research (2), rollback (3). Data layer: 5 production SQLAlchemy models — PendingAction, ActionLog, UserPreference, MemoryEntry, DashboardAlert — backed by SQLite/Cloud SQL. Primary model: gemini-2.5-flash with 2-model fallback chain.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463040"/>
            <a:ext cx="26517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0" y="1481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Impact &amp; Problem Solving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01568" y="1828800"/>
            <a:ext cx="243230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space between apps — the calendar conflict that nobody linked to the investor call. Impact Panel calculates value live: (conflicts × 15) + (tasks × 5) = minutes reclaimed. 9 APScheduler background jobs run proactively: Daily Briefing 08:00, Meeting Prep every 15 min, Conflict Detection every 30 min, Proactive Audit every 4 hours.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146304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1463040"/>
            <a:ext cx="2651760" cy="2926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481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Workflow &amp; Mechanics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36208" y="1828800"/>
            <a:ext cx="243230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request: POST /api/v1/query → Manager → specialist → tool → write intent detected → PendingAction created (status: staged) → DraftCard on Canvas via WebSocket. User clicks Approve → write executes → ActionLog records reversible snapshot. Undo: RollbackService reverses Calendar delete/patch or Notion archive/patch. No other system can undo what its AI did.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· 15 MCP tools · gemini-2.5-flash · Cloud Run — orchestrating the full workday, not just one corner of it.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only AI productivity system that works across your entire workday — not just one corner of it."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different?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3931920" cy="146304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Single-App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Sūtradhāra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app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+ Notion + Web simultaneously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safety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execution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silent writes — all staged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start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Gemini-extracted DNA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rollback — Calendar + Notion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— Built on Trust by Design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361188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04672" y="3611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is staged: PendingAction model stores proposed_payload. Both Calendar and Notion tools call create_draft() before touching any external API.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402336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04672" y="4023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reversible: RollbackService.execute_undo() covers Calendar delete/patch and Notion archive/property patch. ActionLog holds the reverse snapshot.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443484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4672" y="4434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learns: memory_service.extract_preferences() runs a Gemini pattern-recognition pass, storing ctx_dna injected into every future session.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0" y="1389888"/>
            <a:ext cx="4343400" cy="36118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709160" y="14813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 — Daily Briefing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709160" y="18288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evt_001: Series A Partner Call — Sequoia, 09:00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709160" y="21488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evt_002: Engineering Standup, 09:15 ← 30-min overlap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709160" y="2468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"Give me my daily briefing" → Manager delegates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709160" y="27889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list_events called → conflict detected automatically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709160" y="31089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CONFLICT_RED_ZONE card rendered on Canvas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709160" y="34290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Resolution staged: move evt_002 to 10:15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709160" y="37490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clicks Approve → Calendar patched → ActionLog written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709160" y="40690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Impact Panel: 1 conflict × 15 min = 15 min reclaimed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709160" y="4389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Undo available: one command reverses the patch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· Reversible · Learning · Built for the whole workday.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Suite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core capabilities — the 3 anchors (positions 1, 5, 9) are features no competitor has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389888"/>
            <a:ext cx="2651760" cy="1170432"/>
          </a:xfrm>
          <a:prstGeom prst="rect">
            <a:avLst/>
          </a:prstGeom>
          <a:solidFill>
            <a:srgbClr val="1A1F3A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2704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27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Draft-Approval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94360" y="18653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Notion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94360" y="20482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to Calendar or Notion is staged as a PendingAction and requires explicit approval before execution.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291840" y="1389888"/>
            <a:ext cx="26517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704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49040" y="1527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6-Agent ADK Crew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429000" y="18653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3429000" y="20482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Manager routes intent across 6 specialists via Google ADK sequential-crew delegation pattern.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126480" y="1389888"/>
            <a:ext cx="26517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270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1527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Background Jobs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6263640" y="18653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Intelligence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263640" y="20482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runs 9 autonomous jobs — Daily Briefing 08:00 to Conflict Detection every 30 minutes.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57200" y="2670048"/>
            <a:ext cx="26517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0720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2807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Specialist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94360" y="31455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594360" y="3328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+ live scraping delivers real-time intelligence, synthesised into executive reports with citations.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3291840" y="2670048"/>
            <a:ext cx="2651760" cy="1170432"/>
          </a:xfrm>
          <a:prstGeom prst="rect">
            <a:avLst/>
          </a:prstGeom>
          <a:solidFill>
            <a:srgbClr val="1A1F3A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80720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749040" y="2807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Undo — Cal + Notion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3429000" y="31455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Engine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3429000" y="3328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ActionLog stores a reversible snapshot of every approved action; RollbackService reverses on demand.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6126480" y="2670048"/>
            <a:ext cx="26517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807208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583680" y="2807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6263640" y="31455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</a:t>
            </a:r>
            <a:endParaRPr lang="en-US" sz="850" dirty="0"/>
          </a:p>
        </p:txBody>
      </p:sp>
      <p:sp>
        <p:nvSpPr>
          <p:cNvPr id="34" name="Text 25"/>
          <p:cNvSpPr/>
          <p:nvPr/>
        </p:nvSpPr>
        <p:spPr>
          <a:xfrm>
            <a:off x="6263640" y="3328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response streams token-by-token via WebSocket — rendered live in chat, no loading spinner.</a:t>
            </a:r>
            <a:endParaRPr lang="en-US" sz="850" dirty="0"/>
          </a:p>
        </p:txBody>
      </p:sp>
      <p:sp>
        <p:nvSpPr>
          <p:cNvPr id="35" name="Shape 26"/>
          <p:cNvSpPr/>
          <p:nvPr/>
        </p:nvSpPr>
        <p:spPr>
          <a:xfrm>
            <a:off x="457200" y="3950208"/>
            <a:ext cx="26517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087368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14400" y="4087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Image Input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594360" y="44256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850" dirty="0"/>
          </a:p>
        </p:txBody>
      </p:sp>
      <p:sp>
        <p:nvSpPr>
          <p:cNvPr id="39" name="Text 29"/>
          <p:cNvSpPr/>
          <p:nvPr/>
        </p:nvSpPr>
        <p:spPr>
          <a:xfrm>
            <a:off x="594360" y="4608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Speech Recognition enables voice commands; Gemini Vision processes uploaded images as context.</a:t>
            </a:r>
            <a:endParaRPr lang="en-US" sz="850" dirty="0"/>
          </a:p>
        </p:txBody>
      </p:sp>
      <p:sp>
        <p:nvSpPr>
          <p:cNvPr id="40" name="Shape 30"/>
          <p:cNvSpPr/>
          <p:nvPr/>
        </p:nvSpPr>
        <p:spPr>
          <a:xfrm>
            <a:off x="3291840" y="3950208"/>
            <a:ext cx="26517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4087368"/>
            <a:ext cx="274320" cy="27432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3749040" y="4087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v7 Live Graph</a:t>
            </a:r>
            <a:endParaRPr lang="en-US" sz="1050" dirty="0"/>
          </a:p>
        </p:txBody>
      </p:sp>
      <p:sp>
        <p:nvSpPr>
          <p:cNvPr id="43" name="Text 32"/>
          <p:cNvSpPr/>
          <p:nvPr/>
        </p:nvSpPr>
        <p:spPr>
          <a:xfrm>
            <a:off x="3429000" y="44256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Workflow</a:t>
            </a:r>
            <a:endParaRPr lang="en-US" sz="850" dirty="0"/>
          </a:p>
        </p:txBody>
      </p:sp>
      <p:sp>
        <p:nvSpPr>
          <p:cNvPr id="44" name="Text 33"/>
          <p:cNvSpPr/>
          <p:nvPr/>
        </p:nvSpPr>
        <p:spPr>
          <a:xfrm>
            <a:off x="3429000" y="4608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Force-directed graph renders agent pipeline — click nodes to filter Loom logs by agent.</a:t>
            </a:r>
            <a:endParaRPr lang="en-US" sz="850" dirty="0"/>
          </a:p>
        </p:txBody>
      </p:sp>
      <p:sp>
        <p:nvSpPr>
          <p:cNvPr id="45" name="Shape 34"/>
          <p:cNvSpPr/>
          <p:nvPr/>
        </p:nvSpPr>
        <p:spPr>
          <a:xfrm>
            <a:off x="6126480" y="3950208"/>
            <a:ext cx="2651760" cy="1170432"/>
          </a:xfrm>
          <a:prstGeom prst="rect">
            <a:avLst/>
          </a:prstGeom>
          <a:solidFill>
            <a:srgbClr val="1A1F3A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4087368"/>
            <a:ext cx="274320" cy="27432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583680" y="4087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DNA</a:t>
            </a:r>
            <a:endParaRPr lang="en-US" sz="1050" dirty="0"/>
          </a:p>
        </p:txBody>
      </p:sp>
      <p:sp>
        <p:nvSpPr>
          <p:cNvPr id="48" name="Text 36"/>
          <p:cNvSpPr/>
          <p:nvPr/>
        </p:nvSpPr>
        <p:spPr>
          <a:xfrm>
            <a:off x="6263640" y="44256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850" dirty="0"/>
          </a:p>
        </p:txBody>
      </p:sp>
      <p:sp>
        <p:nvSpPr>
          <p:cNvPr id="49" name="Text 37"/>
          <p:cNvSpPr/>
          <p:nvPr/>
        </p:nvSpPr>
        <p:spPr>
          <a:xfrm>
            <a:off x="6263640" y="4608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extracts scheduling habits after every session; ctx_dna injected into every future agent prompt.</a:t>
            </a:r>
            <a:endParaRPr lang="en-US" sz="850" dirty="0"/>
          </a:p>
        </p:txBody>
      </p:sp>
      <p:sp>
        <p:nvSpPr>
          <p:cNvPr id="50" name="Text 38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specialist agent roles · 15 MCP tools · one workday — fully coordinated.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natural language to approved, reversible action — across Calendar and Notion simultaneously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84048" y="1389888"/>
            <a:ext cx="320040" cy="32004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0391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 command sent from Chat UI (POST /api/v1/query)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331720" y="2080260"/>
            <a:ext cx="164592" cy="0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137160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32888" y="1389888"/>
            <a:ext cx="320040" cy="320040"/>
          </a:xfrm>
          <a:prstGeom prst="ellipse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32888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0604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Inject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606040" y="20391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get_productivity_dna() fetches UserPreference → ctx_dna set into Manager session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480560" y="2080260"/>
            <a:ext cx="164592" cy="0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37160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81728" y="1389888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5488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Routes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54880" y="20391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intent → record_thought → record_handoff → transfer_to_agent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629400" y="2080260"/>
            <a:ext cx="164592" cy="0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12280" y="137160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30568" y="1389888"/>
            <a:ext cx="320040" cy="32004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30568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0372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Acts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903720" y="20391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MCP tool (list_events, query_notion_database, google_search…) → result streamed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65760" y="310896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84048" y="3127248"/>
            <a:ext cx="320040" cy="3200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4048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34930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Staged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377647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create_event/create_notion_page → pending_actions_service.create_draft() → status: staged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331720" y="3817620"/>
            <a:ext cx="164592" cy="0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514600" y="310896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C0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2532888" y="3127248"/>
            <a:ext cx="320040" cy="32004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532888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606040" y="34930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DraftCard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2606040" y="377647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emit_canvas_event(DRAFT_ACTION) via WebSocket → DraftCard with Approve/Reject rendered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480560" y="3817620"/>
            <a:ext cx="164592" cy="0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663440" y="310896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681728" y="3127248"/>
            <a:ext cx="320040" cy="32004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81728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754880" y="34930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Approves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754880" y="377647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/actions/{id}/approve → external Calendar/Notion write executes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629400" y="3817620"/>
            <a:ext cx="164592" cy="0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812280" y="310896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830568" y="3127248"/>
            <a:ext cx="320040" cy="32004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830568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03720" y="34930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+ Learns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903720" y="377647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ActionLog row with forward+reverse_data. memory_service.extract_preferences() → smarter next session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pipeline where Step 5 exists — staged, approved, logged, reversible. Zero silent writes.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Wireframe: The Loom — Live Agent Cortex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decision streamed in real time before the response arrives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89888"/>
            <a:ext cx="4937760" cy="3611880"/>
          </a:xfrm>
          <a:prstGeom prst="rect">
            <a:avLst/>
          </a:prstGeom>
          <a:solidFill>
            <a:srgbClr val="1A1F3A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481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LOOM — Live Agent Trace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4663440" cy="347472"/>
          </a:xfrm>
          <a:prstGeom prst="rect">
            <a:avLst/>
          </a:prstGeom>
          <a:solidFill>
            <a:srgbClr val="1E2761"/>
          </a:solidFill>
          <a:ln w="3810">
            <a:solidFill>
              <a:srgbClr val="30306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828800"/>
            <a:ext cx="7772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1837944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32588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wants daily briefing. Delegating to calendar_specialist...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2920" y="2212848"/>
            <a:ext cx="4663440" cy="347472"/>
          </a:xfrm>
          <a:prstGeom prst="rect">
            <a:avLst/>
          </a:prstGeom>
          <a:solidFill>
            <a:srgbClr val="1E2761"/>
          </a:solidFill>
          <a:ln w="3810">
            <a:solidFill>
              <a:srgbClr val="3030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12848"/>
            <a:ext cx="7772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" y="2221992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DELEGATION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32588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transfer_to_agent: calendar_specialist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2920" y="2596896"/>
            <a:ext cx="4663440" cy="347472"/>
          </a:xfrm>
          <a:prstGeom prst="rect">
            <a:avLst/>
          </a:prstGeom>
          <a:solidFill>
            <a:srgbClr val="1E2761"/>
          </a:solidFill>
          <a:ln w="3810">
            <a:solidFill>
              <a:srgbClr val="3030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596896"/>
            <a:ext cx="77724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260604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325880" y="2596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list_events(start=today, days=1, tz=IST)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2920" y="2980944"/>
            <a:ext cx="4663440" cy="347472"/>
          </a:xfrm>
          <a:prstGeom prst="rect">
            <a:avLst/>
          </a:prstGeom>
          <a:solidFill>
            <a:srgbClr val="1E2761"/>
          </a:solidFill>
          <a:ln w="3810">
            <a:solidFill>
              <a:srgbClr val="30306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2980944"/>
            <a:ext cx="77724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2990088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325880" y="2980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8 events. Conflict detected: evt_001 ∩ evt_002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02920" y="3364992"/>
            <a:ext cx="4663440" cy="347472"/>
          </a:xfrm>
          <a:prstGeom prst="rect">
            <a:avLst/>
          </a:prstGeom>
          <a:solidFill>
            <a:srgbClr val="1E2761"/>
          </a:solidFill>
          <a:ln w="3810">
            <a:solidFill>
              <a:srgbClr val="30306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364992"/>
            <a:ext cx="77724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" y="3374136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325880" y="3364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emit_canvas_event(CONFLICT_RED_ZONE)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02920" y="3749040"/>
            <a:ext cx="4663440" cy="347472"/>
          </a:xfrm>
          <a:prstGeom prst="rect">
            <a:avLst/>
          </a:prstGeom>
          <a:solidFill>
            <a:srgbClr val="1E2761"/>
          </a:solidFill>
          <a:ln w="3810">
            <a:solidFill>
              <a:srgbClr val="30306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2920" y="3749040"/>
            <a:ext cx="77724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2064" y="3758184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325880" y="3749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create_event → status: staged ← PendingAction created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02920" y="4133088"/>
            <a:ext cx="4663440" cy="347472"/>
          </a:xfrm>
          <a:prstGeom prst="rect">
            <a:avLst/>
          </a:prstGeom>
          <a:solidFill>
            <a:srgbClr val="1E2761"/>
          </a:solidFill>
          <a:ln w="3810">
            <a:solidFill>
              <a:srgbClr val="30306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2920" y="4133088"/>
            <a:ext cx="777240" cy="347472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064" y="4142232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325880" y="4133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emit_canvas_event(DRAFT_ACTION) → DraftCard rendered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" y="4517136"/>
            <a:ext cx="4663440" cy="347472"/>
          </a:xfrm>
          <a:prstGeom prst="rect">
            <a:avLst/>
          </a:prstGeom>
          <a:solidFill>
            <a:srgbClr val="1E2761"/>
          </a:solidFill>
          <a:ln w="3810">
            <a:solidFill>
              <a:srgbClr val="30306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2920" y="4517136"/>
            <a:ext cx="7772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2064" y="452628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325880" y="4517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Streaming: 'I found a conflict and staged a resolution…'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440680" y="1389888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440680" y="1389888"/>
            <a:ext cx="54864" cy="11155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59552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&amp; DELEGATION Events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559552" y="1737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answer, the Loom streams THOUGHT and DELEGATION events in real time via trace_service. Each entry shows agent name (colour-coded) and reasoning text with typewriter animation.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440680" y="2596896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440680" y="2596896"/>
            <a:ext cx="54864" cy="11155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559552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Events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559552" y="29443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list_events or google_search fires, emit_tool_call() logs the tool name and input args. Judges see exactly which MCP tool is executing and with what parameters.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440680" y="3803904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440680" y="3803904"/>
            <a:ext cx="54864" cy="11155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559552" y="3877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DraftCard — the trust moment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5559552" y="415137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POST /actions/{id}/approve → external write executes, ActionLog records snapshot. Reject → zero side effects. Reset → retry without re-running pipeline.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Loom isn't logging — it's narrating. You watch the AI think, delegate, and stop at the door waiting for your key."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Wireframe: Workflow Interface — D3.js v7 Interactive Graph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force-directed agent pipeline — not a static flowchart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89888"/>
            <a:ext cx="4937760" cy="3611880"/>
          </a:xfrm>
          <a:prstGeom prst="rect">
            <a:avLst/>
          </a:prstGeom>
          <a:solidFill>
            <a:srgbClr val="1A1F3A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481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GRAPH — D3.js v7 Live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51760" y="2487168"/>
            <a:ext cx="-1188720" cy="914400"/>
          </a:xfrm>
          <a:prstGeom prst="line">
            <a:avLst/>
          </a:prstGeom>
          <a:noFill/>
          <a:ln w="12700">
            <a:solidFill>
              <a:srgbClr val="4A50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51760" y="2487168"/>
            <a:ext cx="0" cy="1234440"/>
          </a:xfrm>
          <a:prstGeom prst="line">
            <a:avLst/>
          </a:prstGeom>
          <a:noFill/>
          <a:ln w="12700">
            <a:solidFill>
              <a:srgbClr val="4A50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51760" y="2487168"/>
            <a:ext cx="1188720" cy="914400"/>
          </a:xfrm>
          <a:prstGeom prst="line">
            <a:avLst/>
          </a:prstGeom>
          <a:noFill/>
          <a:ln w="12700">
            <a:solidFill>
              <a:srgbClr val="4A50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63040" y="3401568"/>
            <a:ext cx="-411480" cy="960120"/>
          </a:xfrm>
          <a:prstGeom prst="line">
            <a:avLst/>
          </a:prstGeom>
          <a:noFill/>
          <a:ln w="12700">
            <a:solidFill>
              <a:srgbClr val="4A50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3401568"/>
            <a:ext cx="411480" cy="960120"/>
          </a:xfrm>
          <a:prstGeom prst="line">
            <a:avLst/>
          </a:prstGeom>
          <a:noFill/>
          <a:ln w="12700">
            <a:solidFill>
              <a:srgbClr val="4A50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3401568"/>
            <a:ext cx="548640" cy="960120"/>
          </a:xfrm>
          <a:prstGeom prst="line">
            <a:avLst/>
          </a:prstGeom>
          <a:noFill/>
          <a:ln w="12700">
            <a:solidFill>
              <a:srgbClr val="4A50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04288" y="2139696"/>
            <a:ext cx="694944" cy="69494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8568" y="28620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1188720" y="3127248"/>
            <a:ext cx="548640" cy="54864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3703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377440" y="3447288"/>
            <a:ext cx="548640" cy="54864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31720" y="4023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566160" y="3127248"/>
            <a:ext cx="548640" cy="5486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20440" y="3703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50392" y="4160520"/>
            <a:ext cx="402336" cy="402336"/>
          </a:xfrm>
          <a:prstGeom prst="ellipse">
            <a:avLst/>
          </a:prstGeom>
          <a:solidFill>
            <a:srgbClr val="1A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459028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list_events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673352" y="4160520"/>
            <a:ext cx="402336" cy="402336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27632" y="459028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187952" y="4160520"/>
            <a:ext cx="402336" cy="402336"/>
          </a:xfrm>
          <a:prstGeom prst="ellipse">
            <a:avLst/>
          </a:prstGeom>
          <a:solidFill>
            <a:srgbClr val="1A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42232" y="459028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google_search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02920" y="46634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node → filter Loom by agent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02920" y="484632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· Drag · Click-to-filter · Updates live via WebSocket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440680" y="1389888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40680" y="1389888"/>
            <a:ext cx="54864" cy="11155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59552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renderD3Workflow() — app.js L590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559552" y="1737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Force-directed graph using D3.js v7. Nodes: agents + tool-call ops + DraftCard staging. Edges show delegation direction. Supports zoom, drag, click-to-filter Loom logs.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40680" y="2596896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40680" y="2596896"/>
            <a:ext cx="54864" cy="11155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59552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Node-to-Action Mapping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559552" y="29443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(purple) = root. Specialist nodes appear on transfer_to_agent. Tool nodes on emit_tool_call. DraftCard node (amber) = human decision required. Approved node (green) = ActionLog written.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40680" y="3803904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440680" y="3803904"/>
            <a:ext cx="54864" cy="11155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59552" y="3877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Not Static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559552" y="415137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as IMPACT_UPDATE and canvas_event WebSocket messages arrive. Clicking a node calls filterLoomLogs(agentName), fading all other agents — narrable in 90 seconds.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static flowchart — a live map of your workday being actively coordinated."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Wireframe: History &amp; Audit Trail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by design — every action staged, logged, and undoable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89888"/>
            <a:ext cx="4937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389888"/>
            <a:ext cx="4937760" cy="3200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356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 — Session History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01368"/>
            <a:ext cx="4754880" cy="411480"/>
          </a:xfrm>
          <a:prstGeom prst="rect">
            <a:avLst/>
          </a:prstGeom>
          <a:solidFill>
            <a:srgbClr val="F1F3F4"/>
          </a:solidFill>
          <a:ln w="3810">
            <a:solidFill>
              <a:srgbClr val="DADC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8379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my daily briefing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20299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08:02 AM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584448" y="1892808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84448" y="18928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57200" y="2276856"/>
            <a:ext cx="4754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ADC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3134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Q2 Metrics Deck as In Progress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50545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10:14 AM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584448" y="2368296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84448" y="23682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57200" y="2752344"/>
            <a:ext cx="4754880" cy="411480"/>
          </a:xfrm>
          <a:prstGeom prst="rect">
            <a:avLst/>
          </a:prstGeom>
          <a:solidFill>
            <a:srgbClr val="F1F3F4"/>
          </a:solidFill>
          <a:ln w="3810">
            <a:solidFill>
              <a:srgbClr val="DADC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2788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Series A funding in SaaS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298094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11:30 AM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584448" y="2843784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84448" y="284378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57200" y="3227832"/>
            <a:ext cx="4754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ADC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2644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Briefing Job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" y="345643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scheduler:daily_briefing · 08:00 AM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584448" y="3319272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84448" y="33192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02920" y="37490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PendingAction Status Badges: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02920" y="400507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005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691640" y="400507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691640" y="4005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880360" y="400507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880360" y="4005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069080" y="400507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69080" y="4005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3434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Reset: retry a rejected action without re-running the pipeline — no competitor exposes this.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440680" y="1389888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440680" y="1389888"/>
            <a:ext cx="54864" cy="111556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59552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Archive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559552" y="1737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Conversation row: user_query, status, source (api / scheduler:daily_briefing), created_at. Expands to WorkflowRun rows with agent_name, tool_called, input/output, duration_ms.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440680" y="2596896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440680" y="2596896"/>
            <a:ext cx="54864" cy="111556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59552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ActionLog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559552" y="29443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action has ActionLog row with forward_data (what was done) + reverse_data (how to undo). POST /query/{id}/undo calls RollbackService.execute_undo() — Calendar delete/patch + Notion archive/patch.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440680" y="3803904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5440680" y="3803904"/>
            <a:ext cx="54864" cy="111556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559552" y="3877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Closing Argument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559552" y="415137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Sūtradhāra made a mistake, you can undo it. No other AI assistant in this competition can say that." The full trust loop: Approve → Log → Undo.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Approved. Logged. Reversible. Every action, every time.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voice command to approved, reversible write — 7 agent roles, 15 MCP tools, 0 silent actions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89888"/>
            <a:ext cx="841248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389888"/>
            <a:ext cx="365760" cy="6583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9768" y="15727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1572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1248" y="1444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Presentation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" y="17190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· D3.js v7 · Mermaid v11 · WebSocket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31920" y="14356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Three-column OS: Command (chat + voice + image) · Theater (DraftCards, conflicts) · Loom (live trace + D3 workflow graph). SpeechRecognition + FileReader API for multimodal input.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2103120"/>
            <a:ext cx="841248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103120"/>
            <a:ext cx="365760" cy="65836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" y="228600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41248" y="2157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— Orchestration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1248" y="24323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FastAPI ≥0.115.0 · Google ADK ≥1.0.0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931920" y="21488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API routes + 1 WebSocket endpoint. ADK Runner with InMemorySessionService. Manager wires 6 sub-agents. run_async() streams partial events via trace_service.emit_response_chunk().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2816352"/>
            <a:ext cx="841248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2816352"/>
            <a:ext cx="365760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9768" y="299923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" y="2999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41248" y="28712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 — MCP Tools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41248" y="31455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registered tools across 3 domains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931920" y="28620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(5): list_events, create_event, update_event, delete_event, find_free_slots. Notion (5): query/create/update/search/read. Research (2): google_search, scrape_website. Rollback (3). RULE: every write tool returns {status:staged}.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3529584"/>
            <a:ext cx="841248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3529584"/>
            <a:ext cx="365760" cy="6583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9768" y="371246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9768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41248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 — Persistence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41248" y="38587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≥2.0 · aiosqlite/asyncpg · Gemini pattern recognition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931920" y="357530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models. Core 5: PendingAction, ActionLog, UserPreference, MemoryEntry, DashboardAlert. After every query: extract_preferences() upserts UserPreference → ctx_dna injected next session.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4242816"/>
            <a:ext cx="841248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65760" y="4242816"/>
            <a:ext cx="365760" cy="65836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768" y="442569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9768" y="4425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41248" y="4297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— Deployment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41248" y="45720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python:3.12-slim · Google Cloud Run · us-central1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931920" y="42885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sutradhara-backend. 9 APScheduler background jobs run serverlessly. DEMO_MODE auto-activates via K_SERVICE env var — full experience without credentials.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design — every new integration is a new tool function, not a code change. Every write requires human approval. Every action can be undone.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traces back to the same principle: the user controls what the AI does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89888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481328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81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325880" y="14813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≥1.0.0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75564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Runner + InMemorySessionService powers 7-role, 11-instance crew. transfer_to_agent delegation enables cross-tool coordination — Calendar, Notion, Research in one session without context loss.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1389888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81328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481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623560" y="14813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≥1.0.0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175564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Python function bridges as MCP tools. Critical decision: every write-class tool calls pending_actions_service.create_draft() → returns {status: staged}. MCP enforces human-in-the-loop at tool boundary.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2596896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688336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688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325880" y="268833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296265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 for all 11 agent instances. Silent second use: memory_service.extract_preferences() calls Gemini after every session — extracts CATEGORY|KEY|VALUE|CONFIDENCE patterns into UserPreference rows.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63440" y="2596896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2688336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2688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623560" y="268833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FastAPI ≥0.115.0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54880" y="296265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REST routes + 1 WebSocket endpoint. run_async() ADK loop feeds emit_response_chunk() for token streaming. AsyncIOScheduler runs 9 proactive background jobs on the same event loop.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380390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389534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8953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325880" y="389534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python:3.12-slim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16966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critical for 15 tool functions bridging two external APIs, persistent SQLite/PostgreSQL, and 9 scheduler jobs — container ensures identical known state on every deployment.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663440" y="380390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389534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38953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623560" y="389534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754880" y="416966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us-central1 as sutradhara-backend via deploy_cloudrun.sh. Hosts WebSocket streaming + APScheduler jobs + Gemini API. DEMO_MODE auto-activates via K_SERVICE env detection.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 roles · 15 tools · 11 SQLAlchemy models · 0 silent writes. This is what full-stack AI orchestration looks like.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Snapshot 1 — Command Center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natural language command. Six agents activate. The Loom fills before the response arrives.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25880"/>
            <a:ext cx="8412480" cy="2788920"/>
          </a:xfrm>
          <a:prstGeom prst="rect">
            <a:avLst/>
          </a:prstGeom>
          <a:solidFill>
            <a:srgbClr val="1A1F3A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 — insert prototype screenshot here]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72968" y="1325880"/>
            <a:ext cx="0" cy="2788920"/>
          </a:xfrm>
          <a:prstGeom prst="line">
            <a:avLst/>
          </a:prstGeom>
          <a:noFill/>
          <a:ln w="6350">
            <a:solidFill>
              <a:srgbClr val="30306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980176" y="1325880"/>
            <a:ext cx="0" cy="2788920"/>
          </a:xfrm>
          <a:prstGeom prst="line">
            <a:avLst/>
          </a:prstGeom>
          <a:noFill/>
          <a:ln w="6350">
            <a:solidFill>
              <a:srgbClr val="303060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1148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Input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634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or voice command, both supported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1518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(Theater)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1518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DraftCards, Calendar data, Notion tasks — nothing auto-executed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0916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6402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Trace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6402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decision live — THOUGHT and DELEGATION before the answer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85800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1286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Panel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1286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(conflicts × 15) + (tasks × 5) = minutes reclaimed, live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Snapshot 2 — The Loom Trace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delegation chain streams live — Manager hands to Calendar Specialist before the final word appears.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25880"/>
            <a:ext cx="8412480" cy="2788920"/>
          </a:xfrm>
          <a:prstGeom prst="rect">
            <a:avLst/>
          </a:prstGeom>
          <a:solidFill>
            <a:srgbClr val="1A1F3A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 — insert prototype screenshot here]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72968" y="1325880"/>
            <a:ext cx="0" cy="2788920"/>
          </a:xfrm>
          <a:prstGeom prst="line">
            <a:avLst/>
          </a:prstGeom>
          <a:noFill/>
          <a:ln w="6350">
            <a:solidFill>
              <a:srgbClr val="30306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980176" y="1325880"/>
            <a:ext cx="0" cy="2788920"/>
          </a:xfrm>
          <a:prstGeom prst="line">
            <a:avLst/>
          </a:prstGeom>
          <a:noFill/>
          <a:ln w="6350">
            <a:solidFill>
              <a:srgbClr val="303060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1148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Event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634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routes to calendar_specialist — reasoning visible before response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1518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1518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list_events executing — date range, timezone, result count all logged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0916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6402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DraftCard Trigger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6402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write — create_event returned {status:staged}, not a write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85800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1286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Text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1286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response — emit_response_chunk fires per ADK event part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Snapshot 3 — Stage, Approve, Undo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Approve: Calendar updates. Reject: nothing changes. Undo: the update reverses. All three in 90 seconds.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25880"/>
            <a:ext cx="8412480" cy="2788920"/>
          </a:xfrm>
          <a:prstGeom prst="rect">
            <a:avLst/>
          </a:prstGeom>
          <a:solidFill>
            <a:srgbClr val="1A1F3A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 — insert prototype screenshot here]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72968" y="1325880"/>
            <a:ext cx="0" cy="2788920"/>
          </a:xfrm>
          <a:prstGeom prst="line">
            <a:avLst/>
          </a:prstGeom>
          <a:noFill/>
          <a:ln w="6350">
            <a:solidFill>
              <a:srgbClr val="30306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980176" y="1325880"/>
            <a:ext cx="0" cy="2788920"/>
          </a:xfrm>
          <a:prstGeom prst="line">
            <a:avLst/>
          </a:prstGeom>
          <a:noFill/>
          <a:ln w="6350">
            <a:solidFill>
              <a:srgbClr val="303060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1148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Button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634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— POST /actions/{id}/approve — Calendar patch executes, ActionLog records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1518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Button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1518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side effects — PendingAction status set to rejected, API never called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0916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6402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ActionLog Entry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6402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forward_data + reverse_data in one row, recorded automatically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85800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1286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Command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1286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/query/{id}/undo — RollbackService.execute_undo() reverses the patch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Snapshot 4 — Proactive Intelligence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asked, it found the conflict. Before you asked, it prepared the meeting brief.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325880"/>
            <a:ext cx="8412480" cy="2788920"/>
          </a:xfrm>
          <a:prstGeom prst="rect">
            <a:avLst/>
          </a:prstGeom>
          <a:solidFill>
            <a:srgbClr val="1A1F3A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 — insert prototype screenshot here]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72968" y="1325880"/>
            <a:ext cx="0" cy="2788920"/>
          </a:xfrm>
          <a:prstGeom prst="line">
            <a:avLst/>
          </a:prstGeom>
          <a:noFill/>
          <a:ln w="6350">
            <a:solidFill>
              <a:srgbClr val="30306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980176" y="1325880"/>
            <a:ext cx="0" cy="2788920"/>
          </a:xfrm>
          <a:prstGeom prst="line">
            <a:avLst/>
          </a:prstGeom>
          <a:noFill/>
          <a:ln w="6350">
            <a:solidFill>
              <a:srgbClr val="303060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1148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634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conflict_detection_job fires every 30 minutes autonomously — no user prompt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1518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Card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1518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Call overlaps Engineering Standup 09:15 — 30-min overlap detected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0916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6402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Context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6402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ctx_dna injected from UserPreference rows extracted by Gemini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858000" y="422452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0" y="4224528"/>
            <a:ext cx="201168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1286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Card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12864" y="44531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google_search → scrape_website → synthesis into executive report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hankyou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0" y="1097280"/>
            <a:ext cx="4846320" cy="2926080"/>
          </a:xfrm>
          <a:prstGeom prst="rect">
            <a:avLst/>
          </a:prstGeom>
          <a:solidFill>
            <a:srgbClr val="1A1F3A">
              <a:alpha val="85000"/>
            </a:srgbClr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51960" y="1325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coordination tax across tools is real.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251960" y="1755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orchestration. Every write staged. Every action reversible.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5196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 roles. 15 tools. Zero silent writes.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51960" y="2633472"/>
            <a:ext cx="1078992" cy="777240"/>
          </a:xfrm>
          <a:prstGeom prst="rect">
            <a:avLst/>
          </a:prstGeom>
          <a:solidFill>
            <a:srgbClr val="00897B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51960" y="265176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251960" y="305409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22392" y="2633472"/>
            <a:ext cx="1078992" cy="777240"/>
          </a:xfrm>
          <a:prstGeom prst="rect">
            <a:avLst/>
          </a:prstGeom>
          <a:solidFill>
            <a:srgbClr val="00897B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2392" y="265176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22392" y="305409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92824" y="2633472"/>
            <a:ext cx="1078992" cy="777240"/>
          </a:xfrm>
          <a:prstGeom prst="rect">
            <a:avLst/>
          </a:prstGeom>
          <a:solidFill>
            <a:srgbClr val="00897B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92824" y="265176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92824" y="305409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763256" y="2633472"/>
            <a:ext cx="1078992" cy="777240"/>
          </a:xfrm>
          <a:prstGeom prst="rect">
            <a:avLst/>
          </a:prstGeom>
          <a:solidFill>
            <a:srgbClr val="00897B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63256" y="265176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763256" y="305409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Writes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51960" y="3520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Google Cloud Run · Click Demo Mode for full experience without credentials</a:t>
            </a:r>
            <a:endParaRPr lang="en-US" sz="900" dirty="0"/>
          </a:p>
        </p:txBody>
      </p:sp>
      <p:sp>
        <p:nvSpPr>
          <p:cNvPr id="20" name="Text 17">
            <a:hlinkClick r:id="rId2" tooltip=""/>
          </p:cNvPr>
          <p:cNvSpPr/>
          <p:nvPr/>
        </p:nvSpPr>
        <p:spPr>
          <a:xfrm>
            <a:off x="4251960" y="3749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https://sutradhara-backend-[hash]-uc.a.run.app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Sūtradhāra — Gen AI Academy APAC Submission</dc:title>
  <dc:subject>PptxGenJS Presentation</dc:subject>
  <dc:creator>PptxGenJS</dc:creator>
  <cp:lastModifiedBy>PptxGenJS</cp:lastModifiedBy>
  <cp:revision>1</cp:revision>
  <dcterms:created xsi:type="dcterms:W3CDTF">2026-04-29T11:54:08Z</dcterms:created>
  <dcterms:modified xsi:type="dcterms:W3CDTF">2026-04-29T11:54:08Z</dcterms:modified>
</cp:coreProperties>
</file>